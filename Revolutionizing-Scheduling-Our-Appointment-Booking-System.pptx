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2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Kanit" panose="020B0604020202020204" charset="-34"/>
      <p:regular r:id="rId13"/>
    </p:embeddedFont>
    <p:embeddedFont>
      <p:font typeface="Martel Sans Light" panose="020B0604020202020204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943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8830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9143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66416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9481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0073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17324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6613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99262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8824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10421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6977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943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766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1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682948"/>
            <a:ext cx="8096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Revolutionizing Scheduling: Our Appointment Booking System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2862188"/>
            <a:ext cx="8096845" cy="598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 sleek, modern platform that streamlines booking, reduces no‑shows, and scales with your business. Built for clarity, speed, and delightful user experiences.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706463"/>
            <a:ext cx="6342906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Problem with Traditional Booking Methods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23577" y="2357735"/>
            <a:ext cx="336575" cy="336575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</p:sp>
      <p:sp>
        <p:nvSpPr>
          <p:cNvPr id="4" name="Text 2"/>
          <p:cNvSpPr/>
          <p:nvPr/>
        </p:nvSpPr>
        <p:spPr>
          <a:xfrm>
            <a:off x="1009724" y="240915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Fragmented channels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09724" y="2718867"/>
            <a:ext cx="2088133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Calls, emails, and spreadsheets create manual work and double bookings.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84860" y="2357735"/>
            <a:ext cx="336575" cy="336575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</p:sp>
      <p:sp>
        <p:nvSpPr>
          <p:cNvPr id="7" name="Text 5"/>
          <p:cNvSpPr/>
          <p:nvPr/>
        </p:nvSpPr>
        <p:spPr>
          <a:xfrm>
            <a:off x="3771007" y="240915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Poor visibility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771007" y="2718867"/>
            <a:ext cx="2088133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Teams lack a single calendar view — leading to conflicts and missed opportunities.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46143" y="2357735"/>
            <a:ext cx="336575" cy="336575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</p:sp>
      <p:sp>
        <p:nvSpPr>
          <p:cNvPr id="10" name="Text 8"/>
          <p:cNvSpPr/>
          <p:nvPr/>
        </p:nvSpPr>
        <p:spPr>
          <a:xfrm>
            <a:off x="6532290" y="240915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High no‑show rates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32290" y="2718867"/>
            <a:ext cx="2088133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Limited reminders and friction during rescheduling increase cancellations.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02643"/>
            <a:ext cx="5630168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Introducing Our Intuitive Booking System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5900" y="1479054"/>
            <a:ext cx="3235077" cy="2761729"/>
          </a:xfrm>
          <a:prstGeom prst="roundRect">
            <a:avLst>
              <a:gd name="adj" fmla="val 813"/>
            </a:avLst>
          </a:prstGeom>
          <a:solidFill>
            <a:srgbClr val="FD505F"/>
          </a:solidFill>
          <a:ln/>
        </p:spPr>
      </p:sp>
      <p:sp>
        <p:nvSpPr>
          <p:cNvPr id="4" name="Text 2"/>
          <p:cNvSpPr/>
          <p:nvPr/>
        </p:nvSpPr>
        <p:spPr>
          <a:xfrm>
            <a:off x="835000" y="1628626"/>
            <a:ext cx="239687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One place for scheduling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5472" y="1998165"/>
            <a:ext cx="2935932" cy="1296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Unified calendar, client database, and automation — all on brand and mobile friendly.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2989" y="1647304"/>
            <a:ext cx="374005" cy="3740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473997" y="164730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Fast bookings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473997" y="2016844"/>
            <a:ext cx="415111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Two‑click scheduling from web, social, or chat.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2989" y="2555453"/>
            <a:ext cx="374005" cy="3740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73997" y="255545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Secure &amp; compliant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473997" y="2924994"/>
            <a:ext cx="415111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Encrypted data, role-based access, and audit logs.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2989" y="3463603"/>
            <a:ext cx="374005" cy="37400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73997" y="346360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Responsive design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473997" y="3833143"/>
            <a:ext cx="415111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Optimized experience on phones, tablets, and desktops.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96119"/>
            <a:ext cx="6780981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Key Features: Seamless Scheduling &amp; Management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147390"/>
            <a:ext cx="2599209" cy="179486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3364" y="1282005"/>
            <a:ext cx="179487" cy="1794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2200" y="174575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Smart availability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92200" y="2055465"/>
            <a:ext cx="22619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Auto-blocking for travel, buffer times, and multi‑staff rules.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2358" y="1147390"/>
            <a:ext cx="2599209" cy="1794867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2145" y="1282005"/>
            <a:ext cx="179487" cy="17948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440981" y="174575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Automated reminders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3440981" y="2055465"/>
            <a:ext cx="22619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Custom SMS / email reminders and follow‑ups to cut no‑shows.</a:t>
            </a:r>
            <a:endParaRPr lang="en-US" sz="11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1139" y="1147390"/>
            <a:ext cx="2599283" cy="1794867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1000" y="1282005"/>
            <a:ext cx="179487" cy="179487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189762" y="174575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Payments &amp; deposits</a:t>
            </a:r>
            <a:endParaRPr lang="en-US" sz="1350" dirty="0"/>
          </a:p>
        </p:txBody>
      </p:sp>
      <p:sp>
        <p:nvSpPr>
          <p:cNvPr id="14" name="Text 6"/>
          <p:cNvSpPr/>
          <p:nvPr/>
        </p:nvSpPr>
        <p:spPr>
          <a:xfrm>
            <a:off x="6189762" y="2055465"/>
            <a:ext cx="226203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Secure checkout, partial payments, and refund management.</a:t>
            </a:r>
            <a:endParaRPr lang="en-US" sz="11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77" y="3091830"/>
            <a:ext cx="3973637" cy="1555477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20578" y="3226445"/>
            <a:ext cx="179487" cy="179487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92200" y="369019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Client profiles</a:t>
            </a:r>
            <a:endParaRPr lang="en-US" sz="1350" dirty="0"/>
          </a:p>
        </p:txBody>
      </p:sp>
      <p:sp>
        <p:nvSpPr>
          <p:cNvPr id="18" name="Text 8"/>
          <p:cNvSpPr/>
          <p:nvPr/>
        </p:nvSpPr>
        <p:spPr>
          <a:xfrm>
            <a:off x="692200" y="3999905"/>
            <a:ext cx="36363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History, notes, and preferences for personalized service.</a:t>
            </a:r>
            <a:endParaRPr lang="en-US" sz="115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6786" y="3091830"/>
            <a:ext cx="3973637" cy="1555477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3787" y="3226445"/>
            <a:ext cx="179487" cy="179487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4815408" y="369019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Analytics &amp; reporting</a:t>
            </a:r>
            <a:endParaRPr lang="en-US" sz="1350" dirty="0"/>
          </a:p>
        </p:txBody>
      </p:sp>
      <p:sp>
        <p:nvSpPr>
          <p:cNvPr id="22" name="Text 10"/>
          <p:cNvSpPr/>
          <p:nvPr/>
        </p:nvSpPr>
        <p:spPr>
          <a:xfrm>
            <a:off x="4815408" y="3999905"/>
            <a:ext cx="36363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Track bookings, revenue, staff utilization, and conversions.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01414"/>
            <a:ext cx="5820221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How It Works: A Step-by-Step Walkthrough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764" y="1252686"/>
            <a:ext cx="6296471" cy="28816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4999" y="3349739"/>
            <a:ext cx="1182114" cy="428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Feedback &amp; Notes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5211" y="3349739"/>
            <a:ext cx="1182114" cy="428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Send Reminders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273521" y="3349739"/>
            <a:ext cx="1182114" cy="428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Confirm &amp; Charge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759443" y="3456766"/>
            <a:ext cx="1182114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Select Service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3577" y="4302621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From discovery to feedback, the system automates each handoff so staff focus on service — not logistics.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19088"/>
            <a:ext cx="33724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Benefits for Businesses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23577" y="2897386"/>
            <a:ext cx="8096845" cy="19050"/>
          </a:xfrm>
          <a:prstGeom prst="roundRect">
            <a:avLst>
              <a:gd name="adj" fmla="val 117806"/>
            </a:avLst>
          </a:prstGeom>
          <a:solidFill>
            <a:srgbClr val="48446D"/>
          </a:solidFill>
          <a:ln/>
        </p:spPr>
      </p:sp>
      <p:sp>
        <p:nvSpPr>
          <p:cNvPr id="4" name="Shape 2"/>
          <p:cNvSpPr/>
          <p:nvPr/>
        </p:nvSpPr>
        <p:spPr>
          <a:xfrm>
            <a:off x="523577" y="1570360"/>
            <a:ext cx="2574280" cy="1327026"/>
          </a:xfrm>
          <a:prstGeom prst="rect">
            <a:avLst/>
          </a:prstGeom>
          <a:solidFill>
            <a:srgbClr val="2F2B54"/>
          </a:solidFill>
          <a:ln/>
        </p:spPr>
      </p:sp>
      <p:sp>
        <p:nvSpPr>
          <p:cNvPr id="5" name="Text 3"/>
          <p:cNvSpPr/>
          <p:nvPr/>
        </p:nvSpPr>
        <p:spPr>
          <a:xfrm>
            <a:off x="930622" y="171993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Operational efficiency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73150" y="2029644"/>
            <a:ext cx="2275136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Fewer manual tasks, centralized scheduling, and reduced staff conflict.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84860" y="2916436"/>
            <a:ext cx="2574280" cy="1327026"/>
          </a:xfrm>
          <a:prstGeom prst="rect">
            <a:avLst/>
          </a:prstGeom>
          <a:solidFill>
            <a:srgbClr val="2F2B54"/>
          </a:solidFill>
          <a:ln/>
        </p:spPr>
      </p:sp>
      <p:sp>
        <p:nvSpPr>
          <p:cNvPr id="8" name="Text 6"/>
          <p:cNvSpPr/>
          <p:nvPr/>
        </p:nvSpPr>
        <p:spPr>
          <a:xfrm>
            <a:off x="3691905" y="306600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Revenue growth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34432" y="3375720"/>
            <a:ext cx="2275136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Higher booking capacity, prepaid deposits, and upsell prompts increase income.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46143" y="1570360"/>
            <a:ext cx="2574280" cy="1327026"/>
          </a:xfrm>
          <a:prstGeom prst="rect">
            <a:avLst/>
          </a:prstGeom>
          <a:solidFill>
            <a:srgbClr val="2F2B54"/>
          </a:solidFill>
          <a:ln/>
        </p:spPr>
      </p:sp>
      <p:sp>
        <p:nvSpPr>
          <p:cNvPr id="11" name="Text 9"/>
          <p:cNvSpPr/>
          <p:nvPr/>
        </p:nvSpPr>
        <p:spPr>
          <a:xfrm>
            <a:off x="6453188" y="171993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Data-driven decisions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95715" y="2029644"/>
            <a:ext cx="2275136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Utilization dashboards help optimize hours, staffing, and promotions.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9770"/>
            <a:ext cx="193461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Benefits for Customers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23577" y="696589"/>
            <a:ext cx="3954363" cy="573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21920" indent="-121920" algn="l">
              <a:lnSpc>
                <a:spcPct val="101000"/>
              </a:lnSpc>
              <a:buSzPct val="100000"/>
              <a:buChar char="•"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Instant availability — book within seconds</a:t>
            </a:r>
            <a:endParaRPr lang="en-US" sz="1100" dirty="0"/>
          </a:p>
          <a:p>
            <a:pPr marL="121920" indent="-121920" algn="l">
              <a:lnSpc>
                <a:spcPct val="101000"/>
              </a:lnSpc>
              <a:buSzPct val="100000"/>
              <a:buChar char="•"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Clear appointment details and reminders</a:t>
            </a:r>
            <a:endParaRPr lang="en-US" sz="1100" dirty="0"/>
          </a:p>
          <a:p>
            <a:pPr marL="121920" indent="-121920" algn="l">
              <a:lnSpc>
                <a:spcPct val="101000"/>
              </a:lnSpc>
              <a:buSzPct val="100000"/>
              <a:buChar char="•"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Easy reschedule or cancel from mobile</a:t>
            </a:r>
            <a:endParaRPr lang="en-US" sz="1100" dirty="0"/>
          </a:p>
          <a:p>
            <a:pPr marL="121920" indent="-121920" algn="l">
              <a:lnSpc>
                <a:spcPct val="101000"/>
              </a:lnSpc>
              <a:buSzPct val="100000"/>
              <a:buChar char="•"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Choice of payment and contact channels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258" y="705520"/>
            <a:ext cx="3163491" cy="316349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3014" y="2229483"/>
            <a:ext cx="115416" cy="11541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670822" y="3984724"/>
            <a:ext cx="154260" cy="154260"/>
          </a:xfrm>
          <a:prstGeom prst="roundRect">
            <a:avLst>
              <a:gd name="adj" fmla="val 7501"/>
            </a:avLst>
          </a:prstGeom>
          <a:solidFill>
            <a:srgbClr val="2F2B54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2559" y="4016425"/>
            <a:ext cx="90711" cy="9071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864819" y="4001542"/>
            <a:ext cx="907554" cy="113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Flexible times</a:t>
            </a:r>
            <a:endParaRPr lang="en-US" sz="7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6258" y="705520"/>
            <a:ext cx="3163491" cy="3163491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43862" y="1270583"/>
            <a:ext cx="115416" cy="115416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4670822" y="4254698"/>
            <a:ext cx="154260" cy="154260"/>
          </a:xfrm>
          <a:prstGeom prst="roundRect">
            <a:avLst>
              <a:gd name="adj" fmla="val 7501"/>
            </a:avLst>
          </a:prstGeom>
          <a:solidFill>
            <a:srgbClr val="2F2B54"/>
          </a:solidFill>
          <a:ln/>
        </p:spPr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2559" y="4286399"/>
            <a:ext cx="90711" cy="90711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864819" y="4271516"/>
            <a:ext cx="907554" cy="113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Live support</a:t>
            </a:r>
            <a:endParaRPr lang="en-US" sz="7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6258" y="705520"/>
            <a:ext cx="3163491" cy="3163491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43862" y="3188308"/>
            <a:ext cx="115416" cy="115416"/>
          </a:xfrm>
          <a:prstGeom prst="rect">
            <a:avLst/>
          </a:prstGeom>
        </p:spPr>
      </p:pic>
      <p:sp>
        <p:nvSpPr>
          <p:cNvPr id="16" name="Shape 6"/>
          <p:cNvSpPr/>
          <p:nvPr/>
        </p:nvSpPr>
        <p:spPr>
          <a:xfrm>
            <a:off x="4670822" y="4524673"/>
            <a:ext cx="154260" cy="154260"/>
          </a:xfrm>
          <a:prstGeom prst="roundRect">
            <a:avLst>
              <a:gd name="adj" fmla="val 7501"/>
            </a:avLst>
          </a:prstGeom>
          <a:solidFill>
            <a:srgbClr val="2F2B54"/>
          </a:solidFill>
          <a:ln/>
        </p:spPr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02559" y="4556373"/>
            <a:ext cx="90711" cy="90711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4864819" y="4541490"/>
            <a:ext cx="986805" cy="113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Personalized experience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46968"/>
            <a:ext cx="4051622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Use Cases: Who Can Benefit?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398240"/>
            <a:ext cx="374005" cy="3740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195924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Healthcare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2268959"/>
            <a:ext cx="395488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Manage clinics, telehealth slots, and intake forms with secure patient flows.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5464" y="1398240"/>
            <a:ext cx="374005" cy="3740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5464" y="195924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Salons &amp; Wellness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5464" y="2268959"/>
            <a:ext cx="3954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Staggered services, multi‑staff bookings, and client preferences remembered.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3046958"/>
            <a:ext cx="374005" cy="3740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3577" y="360796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Professional Services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23577" y="3917677"/>
            <a:ext cx="395488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Consultants, legal, and finance teams streamline appointments and billing.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5464" y="3046958"/>
            <a:ext cx="374005" cy="3740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5464" y="360796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Education &amp; Training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5464" y="3917677"/>
            <a:ext cx="3954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Schedule classes, office hours, and 1:1 tutoring with capacity controls.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2958"/>
            <a:ext cx="4579218" cy="340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Future Enhancements &amp; Roadmap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23577" y="1130871"/>
            <a:ext cx="4716661" cy="1517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100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Smart suggestions: AI-based slot optimization and pricing recommendations</a:t>
            </a:r>
            <a:endParaRPr lang="en-US" sz="1100" dirty="0"/>
          </a:p>
          <a:p>
            <a:pPr marL="223520" indent="-223520" algn="l">
              <a:lnSpc>
                <a:spcPct val="131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Advanced integrations: Bi-directional sync with major CRMs and ERPs</a:t>
            </a:r>
            <a:endParaRPr lang="en-US" sz="1100" dirty="0"/>
          </a:p>
          <a:p>
            <a:pPr marL="223520" indent="-223520" algn="l">
              <a:lnSpc>
                <a:spcPct val="131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Group bookings &amp; resource management for rooms/equipment</a:t>
            </a:r>
            <a:endParaRPr lang="en-US" sz="1100" dirty="0"/>
          </a:p>
          <a:p>
            <a:pPr marL="223520" indent="-223520" algn="l">
              <a:lnSpc>
                <a:spcPct val="131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Multilingual UI and expanded global payment providers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23577" y="2805931"/>
            <a:ext cx="4716661" cy="1009948"/>
          </a:xfrm>
          <a:prstGeom prst="roundRect">
            <a:avLst>
              <a:gd name="adj" fmla="val 2153"/>
            </a:avLst>
          </a:prstGeom>
          <a:solidFill>
            <a:srgbClr val="7E010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62" y="3003054"/>
            <a:ext cx="181124" cy="1448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4470" y="2968451"/>
            <a:ext cx="4100885" cy="684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Planned timeline: MVP enhancements in 3 months; integrations and AI features rolled out over the next 9–12 months.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102376" y="1162422"/>
            <a:ext cx="19050" cy="3370138"/>
          </a:xfrm>
          <a:prstGeom prst="roundRect">
            <a:avLst>
              <a:gd name="adj" fmla="val 114124"/>
            </a:avLst>
          </a:prstGeom>
          <a:solidFill>
            <a:srgbClr val="48446D"/>
          </a:solidFill>
          <a:ln/>
        </p:spPr>
      </p:sp>
      <p:sp>
        <p:nvSpPr>
          <p:cNvPr id="8" name="Shape 5"/>
          <p:cNvSpPr/>
          <p:nvPr/>
        </p:nvSpPr>
        <p:spPr>
          <a:xfrm>
            <a:off x="6533108" y="1315938"/>
            <a:ext cx="434801" cy="19050"/>
          </a:xfrm>
          <a:prstGeom prst="roundRect">
            <a:avLst>
              <a:gd name="adj" fmla="val 114124"/>
            </a:avLst>
          </a:prstGeom>
          <a:solidFill>
            <a:srgbClr val="48446D"/>
          </a:solidFill>
          <a:ln/>
        </p:spPr>
      </p:sp>
      <p:sp>
        <p:nvSpPr>
          <p:cNvPr id="9" name="Shape 6"/>
          <p:cNvSpPr/>
          <p:nvPr/>
        </p:nvSpPr>
        <p:spPr>
          <a:xfrm>
            <a:off x="6948860" y="1162422"/>
            <a:ext cx="326082" cy="326082"/>
          </a:xfrm>
          <a:prstGeom prst="roundRect">
            <a:avLst>
              <a:gd name="adj" fmla="val 6667"/>
            </a:avLst>
          </a:prstGeom>
          <a:solidFill>
            <a:srgbClr val="2F2B54"/>
          </a:solidFill>
          <a:ln/>
        </p:spPr>
      </p:sp>
      <p:sp>
        <p:nvSpPr>
          <p:cNvPr id="10" name="Text 7"/>
          <p:cNvSpPr/>
          <p:nvPr/>
        </p:nvSpPr>
        <p:spPr>
          <a:xfrm>
            <a:off x="7009619" y="1197583"/>
            <a:ext cx="204564" cy="255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598616" y="1212205"/>
            <a:ext cx="788640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Q2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598616" y="1565597"/>
            <a:ext cx="788640" cy="1141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1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AI suggestions &amp; improved analytics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255892" y="2176388"/>
            <a:ext cx="434801" cy="19050"/>
          </a:xfrm>
          <a:prstGeom prst="roundRect">
            <a:avLst>
              <a:gd name="adj" fmla="val 114124"/>
            </a:avLst>
          </a:prstGeom>
          <a:solidFill>
            <a:srgbClr val="48446D"/>
          </a:solidFill>
          <a:ln/>
        </p:spPr>
      </p:sp>
      <p:sp>
        <p:nvSpPr>
          <p:cNvPr id="14" name="Shape 11"/>
          <p:cNvSpPr/>
          <p:nvPr/>
        </p:nvSpPr>
        <p:spPr>
          <a:xfrm>
            <a:off x="6948860" y="2022872"/>
            <a:ext cx="326082" cy="326082"/>
          </a:xfrm>
          <a:prstGeom prst="roundRect">
            <a:avLst>
              <a:gd name="adj" fmla="val 6667"/>
            </a:avLst>
          </a:prstGeom>
          <a:solidFill>
            <a:srgbClr val="2F2B54"/>
          </a:solidFill>
          <a:ln/>
        </p:spPr>
      </p:sp>
      <p:sp>
        <p:nvSpPr>
          <p:cNvPr id="15" name="Text 12"/>
          <p:cNvSpPr/>
          <p:nvPr/>
        </p:nvSpPr>
        <p:spPr>
          <a:xfrm>
            <a:off x="7009619" y="2058033"/>
            <a:ext cx="204564" cy="255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836545" y="2072655"/>
            <a:ext cx="788640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Q3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36545" y="2426047"/>
            <a:ext cx="788640" cy="913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Major integrations and group booking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33108" y="3141390"/>
            <a:ext cx="434801" cy="19050"/>
          </a:xfrm>
          <a:prstGeom prst="roundRect">
            <a:avLst>
              <a:gd name="adj" fmla="val 114124"/>
            </a:avLst>
          </a:prstGeom>
          <a:solidFill>
            <a:srgbClr val="48446D"/>
          </a:solidFill>
          <a:ln/>
        </p:spPr>
      </p:sp>
      <p:sp>
        <p:nvSpPr>
          <p:cNvPr id="19" name="Shape 16"/>
          <p:cNvSpPr/>
          <p:nvPr/>
        </p:nvSpPr>
        <p:spPr>
          <a:xfrm>
            <a:off x="6948860" y="2987873"/>
            <a:ext cx="326082" cy="326082"/>
          </a:xfrm>
          <a:prstGeom prst="roundRect">
            <a:avLst>
              <a:gd name="adj" fmla="val 6667"/>
            </a:avLst>
          </a:prstGeom>
          <a:solidFill>
            <a:srgbClr val="2F2B54"/>
          </a:solidFill>
          <a:ln/>
        </p:spPr>
      </p:sp>
      <p:sp>
        <p:nvSpPr>
          <p:cNvPr id="20" name="Text 17"/>
          <p:cNvSpPr/>
          <p:nvPr/>
        </p:nvSpPr>
        <p:spPr>
          <a:xfrm>
            <a:off x="7009619" y="3023034"/>
            <a:ext cx="204564" cy="255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598616" y="3037656"/>
            <a:ext cx="788640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Q4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598616" y="3391049"/>
            <a:ext cx="788640" cy="1141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1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Global payments and language expansion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170980"/>
            <a:ext cx="8289131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Q&amp;A and Next Steps: Start Your Journey to Smarter Scheduling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3577" y="1822252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Ready to reduce no‑shows, free staff time, and deliver a modern booking experience? Next steps: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23577" y="2229892"/>
            <a:ext cx="8096845" cy="82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Schedule a demo — see the system with your calendar and rules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Run a 30‑day pilot with dedicated onboarding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Measure: bookings, utilization, and customer satisfaction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23577" y="3220938"/>
            <a:ext cx="8096845" cy="583332"/>
          </a:xfrm>
          <a:prstGeom prst="roundRect">
            <a:avLst>
              <a:gd name="adj" fmla="val 3847"/>
            </a:avLst>
          </a:prstGeom>
          <a:solidFill>
            <a:srgbClr val="183A1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50" y="3438897"/>
            <a:ext cx="187003" cy="1495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9724" y="3392909"/>
            <a:ext cx="791832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Contact our team to book a personalized demo and implementation plan.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</TotalTime>
  <Words>579</Words>
  <Application>Microsoft Office PowerPoint</Application>
  <PresentationFormat>On-screen Show (16:9)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Kanit</vt:lpstr>
      <vt:lpstr>Arial</vt:lpstr>
      <vt:lpstr>Martel Sans Light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revathi Veeraboyani</cp:lastModifiedBy>
  <cp:revision>2</cp:revision>
  <dcterms:created xsi:type="dcterms:W3CDTF">2026-06-25T10:14:08Z</dcterms:created>
  <dcterms:modified xsi:type="dcterms:W3CDTF">2026-06-25T10:20:38Z</dcterms:modified>
</cp:coreProperties>
</file>